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</p:sldIdLst>
  <p:sldSz cy="6858000" cx="12192000"/>
  <p:notesSz cx="6858000" cy="9144000"/>
  <p:embeddedFontLst>
    <p:embeddedFont>
      <p:font typeface="Play"/>
      <p:regular r:id="rId36"/>
      <p:bold r:id="rId3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38" roundtripDataSignature="AMtx7mhWwmEz9JEh/GluxFo3hzj8blZ0J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F3718E4-545A-4129-BE7A-046FA58DAB9C}">
  <a:tblStyle styleId="{AF3718E4-545A-4129-BE7A-046FA58DAB9C}" styleName="Table_0">
    <a:wholeTbl>
      <a:tcTxStyle b="off" i="off">
        <a:font>
          <a:latin typeface="Neue Haas Grotesk Text Pro"/>
          <a:ea typeface="Neue Haas Grotesk Text Pro"/>
          <a:cs typeface="Neue Haas Grotesk Text Pro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3E8F7"/>
          </a:solidFill>
        </a:fill>
      </a:tcStyle>
    </a:wholeTbl>
    <a:band1H>
      <a:tcTxStyle/>
      <a:tcStyle>
        <a:fill>
          <a:solidFill>
            <a:srgbClr val="E6CDEE"/>
          </a:solidFill>
        </a:fill>
      </a:tcStyle>
    </a:band1H>
    <a:band2H>
      <a:tcTxStyle/>
    </a:band2H>
    <a:band1V>
      <a:tcTxStyle/>
      <a:tcStyle>
        <a:fill>
          <a:solidFill>
            <a:srgbClr val="E6CDEE"/>
          </a:solidFill>
        </a:fill>
      </a:tcStyle>
    </a:band1V>
    <a:band2V>
      <a:tcTxStyle/>
    </a:band2V>
    <a:lastCol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Neue Haas Grotesk Text Pro"/>
          <a:ea typeface="Neue Haas Grotesk Text Pro"/>
          <a:cs typeface="Neue Haas Grotesk Text Pro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font" Target="fonts/Play-bold.fntdata"/><Relationship Id="rId14" Type="http://schemas.openxmlformats.org/officeDocument/2006/relationships/slide" Target="slides/slide9.xml"/><Relationship Id="rId36" Type="http://schemas.openxmlformats.org/officeDocument/2006/relationships/font" Target="fonts/Play-regular.fntdata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38" Type="http://customschemas.google.com/relationships/presentationmetadata" Target="meta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4" name="Google Shape;194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7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1" name="Google Shape;25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3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4" name="Google Shape;274;p3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2" name="Google Shape;282;p3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9" name="Google Shape;289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1" name="Shape 3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2" name="Google Shape;302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3" name="Google Shape;303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6"/>
          <p:cNvSpPr txBox="1"/>
          <p:nvPr>
            <p:ph type="ctrTitle"/>
          </p:nvPr>
        </p:nvSpPr>
        <p:spPr>
          <a:xfrm>
            <a:off x="576072" y="1124712"/>
            <a:ext cx="11036808" cy="317296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  <a:defRPr sz="8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46"/>
          <p:cNvSpPr txBox="1"/>
          <p:nvPr>
            <p:ph idx="1" type="subTitle"/>
          </p:nvPr>
        </p:nvSpPr>
        <p:spPr>
          <a:xfrm>
            <a:off x="576072" y="4727448"/>
            <a:ext cx="11036808" cy="1481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/>
            </a:lvl1pPr>
            <a:lvl2pPr lvl="1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46"/>
          <p:cNvSpPr txBox="1"/>
          <p:nvPr>
            <p:ph idx="10" type="dt"/>
          </p:nvPr>
        </p:nvSpPr>
        <p:spPr>
          <a:xfrm>
            <a:off x="576072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4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46"/>
          <p:cNvSpPr txBox="1"/>
          <p:nvPr>
            <p:ph idx="12" type="sldNum"/>
          </p:nvPr>
        </p:nvSpPr>
        <p:spPr>
          <a:xfrm>
            <a:off x="8869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46"/>
          <p:cNvSpPr/>
          <p:nvPr/>
        </p:nvSpPr>
        <p:spPr>
          <a:xfrm rot="5400000">
            <a:off x="857544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46"/>
          <p:cNvSpPr/>
          <p:nvPr/>
        </p:nvSpPr>
        <p:spPr>
          <a:xfrm flipH="1" rot="10800000">
            <a:off x="578652" y="4501201"/>
            <a:ext cx="11034696" cy="18288"/>
          </a:xfrm>
          <a:prstGeom prst="rect">
            <a:avLst/>
          </a:prstGeom>
          <a:solidFill>
            <a:srgbClr val="B9BED9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7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FE5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" name="Google Shape;21;p47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47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47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" name="Google Shape;24;p47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5" name="Google Shape;25;p47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7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48"/>
          <p:cNvSpPr/>
          <p:nvPr/>
        </p:nvSpPr>
        <p:spPr>
          <a:xfrm>
            <a:off x="558210" y="4981421"/>
            <a:ext cx="11134956" cy="82296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FE5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" name="Google Shape;30;p48"/>
          <p:cNvSpPr/>
          <p:nvPr/>
        </p:nvSpPr>
        <p:spPr>
          <a:xfrm>
            <a:off x="498834" y="5118581"/>
            <a:ext cx="146304" cy="5486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" name="Google Shape;31;p48"/>
          <p:cNvSpPr txBox="1"/>
          <p:nvPr>
            <p:ph type="title"/>
          </p:nvPr>
        </p:nvSpPr>
        <p:spPr>
          <a:xfrm>
            <a:off x="557784" y="640080"/>
            <a:ext cx="10890504" cy="411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  <a:defRPr sz="6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48"/>
          <p:cNvSpPr txBox="1"/>
          <p:nvPr>
            <p:ph idx="1" type="body"/>
          </p:nvPr>
        </p:nvSpPr>
        <p:spPr>
          <a:xfrm>
            <a:off x="841248" y="5102352"/>
            <a:ext cx="10607040" cy="58521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3" name="Google Shape;33;p4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4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4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49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FE5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49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49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49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49"/>
          <p:cNvSpPr txBox="1"/>
          <p:nvPr>
            <p:ph idx="1" type="body"/>
          </p:nvPr>
        </p:nvSpPr>
        <p:spPr>
          <a:xfrm>
            <a:off x="1115568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49"/>
          <p:cNvSpPr txBox="1"/>
          <p:nvPr>
            <p:ph idx="2" type="body"/>
          </p:nvPr>
        </p:nvSpPr>
        <p:spPr>
          <a:xfrm>
            <a:off x="6345936" y="2478024"/>
            <a:ext cx="4937760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3" name="Google Shape;43;p49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4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49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50"/>
          <p:cNvSpPr/>
          <p:nvPr/>
        </p:nvSpPr>
        <p:spPr>
          <a:xfrm>
            <a:off x="558209" y="0"/>
            <a:ext cx="11167447" cy="2018806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rgbClr val="DFE5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" name="Google Shape;48;p50"/>
          <p:cNvSpPr/>
          <p:nvPr/>
        </p:nvSpPr>
        <p:spPr>
          <a:xfrm>
            <a:off x="566928" y="0"/>
            <a:ext cx="11155680" cy="201168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" name="Google Shape;49;p50"/>
          <p:cNvSpPr/>
          <p:nvPr/>
        </p:nvSpPr>
        <p:spPr>
          <a:xfrm>
            <a:off x="498834" y="787352"/>
            <a:ext cx="128016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50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50"/>
          <p:cNvSpPr txBox="1"/>
          <p:nvPr>
            <p:ph idx="1" type="body"/>
          </p:nvPr>
        </p:nvSpPr>
        <p:spPr>
          <a:xfrm>
            <a:off x="1115568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2" name="Google Shape;52;p50"/>
          <p:cNvSpPr txBox="1"/>
          <p:nvPr>
            <p:ph idx="2" type="body"/>
          </p:nvPr>
        </p:nvSpPr>
        <p:spPr>
          <a:xfrm>
            <a:off x="1115568" y="3203688"/>
            <a:ext cx="4937760" cy="2968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3" name="Google Shape;53;p50"/>
          <p:cNvSpPr txBox="1"/>
          <p:nvPr>
            <p:ph idx="3" type="body"/>
          </p:nvPr>
        </p:nvSpPr>
        <p:spPr>
          <a:xfrm>
            <a:off x="6345936" y="2372650"/>
            <a:ext cx="4937760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 cap="none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4" name="Google Shape;54;p50"/>
          <p:cNvSpPr txBox="1"/>
          <p:nvPr>
            <p:ph idx="4" type="body"/>
          </p:nvPr>
        </p:nvSpPr>
        <p:spPr>
          <a:xfrm>
            <a:off x="6345936" y="3203687"/>
            <a:ext cx="4937760" cy="29685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5" name="Google Shape;55;p50"/>
          <p:cNvSpPr txBox="1"/>
          <p:nvPr>
            <p:ph idx="10" type="dt"/>
          </p:nvPr>
        </p:nvSpPr>
        <p:spPr>
          <a:xfrm>
            <a:off x="1115568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5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7" name="Google Shape;57;p50"/>
          <p:cNvSpPr txBox="1"/>
          <p:nvPr>
            <p:ph idx="12" type="sldNum"/>
          </p:nvPr>
        </p:nvSpPr>
        <p:spPr>
          <a:xfrm>
            <a:off x="8540496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51"/>
          <p:cNvSpPr/>
          <p:nvPr/>
        </p:nvSpPr>
        <p:spPr>
          <a:xfrm>
            <a:off x="665853" y="1533525"/>
            <a:ext cx="10917063" cy="3790950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FE5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BEC9BB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51"/>
          <p:cNvSpPr/>
          <p:nvPr/>
        </p:nvSpPr>
        <p:spPr>
          <a:xfrm>
            <a:off x="609084" y="2971798"/>
            <a:ext cx="128016" cy="9144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51"/>
          <p:cNvSpPr txBox="1"/>
          <p:nvPr>
            <p:ph type="title"/>
          </p:nvPr>
        </p:nvSpPr>
        <p:spPr>
          <a:xfrm>
            <a:off x="1078992" y="1938528"/>
            <a:ext cx="10177272" cy="299008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5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5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5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5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5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8" name="Google Shape;68;p5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53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FE5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53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53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53"/>
          <p:cNvSpPr txBox="1"/>
          <p:nvPr>
            <p:ph idx="1" type="body"/>
          </p:nvPr>
        </p:nvSpPr>
        <p:spPr>
          <a:xfrm>
            <a:off x="4965192" y="1709928"/>
            <a:ext cx="6729984" cy="409651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indent="-355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55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74" name="Google Shape;74;p53"/>
          <p:cNvSpPr txBox="1"/>
          <p:nvPr>
            <p:ph idx="2" type="body"/>
          </p:nvPr>
        </p:nvSpPr>
        <p:spPr>
          <a:xfrm>
            <a:off x="868680" y="3429000"/>
            <a:ext cx="3099816" cy="2066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75" name="Google Shape;75;p53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5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7" name="Google Shape;77;p5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54"/>
          <p:cNvSpPr/>
          <p:nvPr/>
        </p:nvSpPr>
        <p:spPr>
          <a:xfrm>
            <a:off x="558210" y="1162033"/>
            <a:ext cx="3740740" cy="4643344"/>
          </a:xfrm>
          <a:prstGeom prst="rect">
            <a:avLst/>
          </a:prstGeom>
          <a:solidFill>
            <a:schemeClr val="lt1"/>
          </a:solidFill>
          <a:ln cap="flat" cmpd="sng" w="12700">
            <a:solidFill>
              <a:srgbClr val="DFE5F2"/>
            </a:solidFill>
            <a:prstDash val="solid"/>
            <a:miter lim="800000"/>
            <a:headEnd len="sm" w="sm" type="none"/>
            <a:tailEnd len="sm" w="sm" type="none"/>
          </a:ln>
          <a:effectLst>
            <a:outerShdw blurRad="50800" rotWithShape="0" algn="tl" dir="2700000" dist="38100">
              <a:srgbClr val="D8D8D8">
                <a:alpha val="29803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54"/>
          <p:cNvSpPr/>
          <p:nvPr/>
        </p:nvSpPr>
        <p:spPr>
          <a:xfrm>
            <a:off x="498834" y="1618375"/>
            <a:ext cx="146304" cy="822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54"/>
          <p:cNvSpPr txBox="1"/>
          <p:nvPr>
            <p:ph type="title"/>
          </p:nvPr>
        </p:nvSpPr>
        <p:spPr>
          <a:xfrm>
            <a:off x="868680" y="1709928"/>
            <a:ext cx="3099816" cy="17099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Arial"/>
              <a:buNone/>
              <a:defRPr sz="3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54"/>
          <p:cNvSpPr/>
          <p:nvPr>
            <p:ph idx="2" type="pic"/>
          </p:nvPr>
        </p:nvSpPr>
        <p:spPr>
          <a:xfrm>
            <a:off x="4965192" y="1161288"/>
            <a:ext cx="6729984" cy="4645152"/>
          </a:xfrm>
          <a:prstGeom prst="rect">
            <a:avLst/>
          </a:prstGeom>
          <a:noFill/>
          <a:ln>
            <a:noFill/>
          </a:ln>
        </p:spPr>
      </p:sp>
      <p:sp>
        <p:nvSpPr>
          <p:cNvPr id="83" name="Google Shape;83;p54"/>
          <p:cNvSpPr txBox="1"/>
          <p:nvPr>
            <p:ph idx="1" type="body"/>
          </p:nvPr>
        </p:nvSpPr>
        <p:spPr>
          <a:xfrm>
            <a:off x="868680" y="3438144"/>
            <a:ext cx="3099816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indent="-2286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84" name="Google Shape;84;p54"/>
          <p:cNvSpPr txBox="1"/>
          <p:nvPr>
            <p:ph idx="10" type="dt"/>
          </p:nvPr>
        </p:nvSpPr>
        <p:spPr>
          <a:xfrm>
            <a:off x="86868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5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5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5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55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0" name="Google Shape;90;p5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1" name="Google Shape;91;p5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2" name="Google Shape;92;p5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6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5" name="Google Shape;95;p56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96" name="Google Shape;96;p5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5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5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  <a:defRPr b="1" i="0" sz="4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4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55600" lvl="1" marL="9144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42900" lvl="2" marL="13716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30200" lvl="3" marL="1828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30200" lvl="4" marL="22860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4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4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4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join.slack.com/t/xceleriumdigi-t6v9440/shared_invite/zt-3bif7sic2-YyHNbEca0DAqMuGnqK86iQ" TargetMode="External"/><Relationship Id="rId4" Type="http://schemas.openxmlformats.org/officeDocument/2006/relationships/image" Target="../media/image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"/>
          <p:cNvSpPr txBox="1"/>
          <p:nvPr>
            <p:ph idx="1" type="subTitle"/>
          </p:nvPr>
        </p:nvSpPr>
        <p:spPr>
          <a:xfrm>
            <a:off x="576072" y="4925777"/>
            <a:ext cx="11036808" cy="750644"/>
          </a:xfrm>
          <a:prstGeom prst="rect">
            <a:avLst/>
          </a:prstGeom>
          <a:solidFill>
            <a:srgbClr val="214F8F"/>
          </a:solidFill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</a:pPr>
            <a:r>
              <a:rPr lang="en-US" sz="4000">
                <a:solidFill>
                  <a:schemeClr val="lt1"/>
                </a:solidFill>
              </a:rPr>
              <a:t>Getting Started</a:t>
            </a:r>
            <a:endParaRPr/>
          </a:p>
        </p:txBody>
      </p:sp>
      <p:pic>
        <p:nvPicPr>
          <p:cNvPr descr="logos.png" id="104" name="Google Shape;10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102275" y="20813"/>
            <a:ext cx="3768247" cy="2213056"/>
          </a:xfrm>
          <a:prstGeom prst="rect">
            <a:avLst/>
          </a:prstGeom>
          <a:noFill/>
          <a:ln>
            <a:noFill/>
          </a:ln>
        </p:spPr>
      </p:pic>
      <p:sp>
        <p:nvSpPr>
          <p:cNvPr id="105" name="Google Shape;105;p1"/>
          <p:cNvSpPr txBox="1"/>
          <p:nvPr>
            <p:ph type="ctrTitle"/>
          </p:nvPr>
        </p:nvSpPr>
        <p:spPr>
          <a:xfrm>
            <a:off x="576072" y="1959781"/>
            <a:ext cx="11036808" cy="235877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0"/>
              <a:buFont typeface="Arial"/>
              <a:buNone/>
            </a:pPr>
            <a:r>
              <a:rPr lang="en-US"/>
              <a:t>Digital Design and Verification Training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Agenda</a:t>
            </a:r>
            <a:endParaRPr/>
          </a:p>
        </p:txBody>
      </p:sp>
      <p:sp>
        <p:nvSpPr>
          <p:cNvPr id="111" name="Google Shape;111;p2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Introductions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Course Overview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Administrative Information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Basics of C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3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Trainers: </a:t>
            </a: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EE Department UET, KICS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3"/>
          <p:cNvSpPr txBox="1"/>
          <p:nvPr>
            <p:ph idx="1" type="body"/>
          </p:nvPr>
        </p:nvSpPr>
        <p:spPr>
          <a:xfrm>
            <a:off x="3709931" y="2484449"/>
            <a:ext cx="4979400" cy="18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b="1" lang="en-US"/>
              <a:t>Dr. Muhammad Tahir</a:t>
            </a:r>
            <a:br>
              <a:rPr lang="en-US" sz="1800"/>
            </a:br>
            <a:r>
              <a:rPr lang="en-US" sz="1800"/>
              <a:t>Professor, Department of Electrical Engineering, UET Lahore</a:t>
            </a:r>
            <a:endParaRPr/>
          </a:p>
        </p:txBody>
      </p:sp>
      <p:sp>
        <p:nvSpPr>
          <p:cNvPr id="118" name="Google Shape;118;p3"/>
          <p:cNvSpPr txBox="1"/>
          <p:nvPr/>
        </p:nvSpPr>
        <p:spPr>
          <a:xfrm>
            <a:off x="1222611" y="4471924"/>
            <a:ext cx="4979271" cy="18889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Mr. Umer Shahid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Lecturer, Department of Electrical Engineering, UET Lahore</a:t>
            </a:r>
            <a:endParaRPr/>
          </a:p>
        </p:txBody>
      </p:sp>
      <p:sp>
        <p:nvSpPr>
          <p:cNvPr id="119" name="Google Shape;119;p3"/>
          <p:cNvSpPr txBox="1"/>
          <p:nvPr/>
        </p:nvSpPr>
        <p:spPr>
          <a:xfrm>
            <a:off x="6599636" y="4471849"/>
            <a:ext cx="4979400" cy="1889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Mr. </a:t>
            </a:r>
            <a:r>
              <a:rPr b="1" lang="en-US" sz="2400">
                <a:solidFill>
                  <a:schemeClr val="dk1"/>
                </a:solidFill>
              </a:rPr>
              <a:t>Rehan Naeem</a:t>
            </a:r>
            <a:b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r>
              <a:rPr b="0" i="0" lang="en-US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Lecturer, Department of Electrical Engineering, UET Lahore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4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Trainee's Introduction</a:t>
            </a:r>
            <a:endParaRPr/>
          </a:p>
        </p:txBody>
      </p:sp>
      <p:sp>
        <p:nvSpPr>
          <p:cNvPr id="125" name="Google Shape;125;p4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Now it's your turn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5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Training Overview</a:t>
            </a:r>
            <a:endParaRPr/>
          </a:p>
        </p:txBody>
      </p:sp>
      <p:sp>
        <p:nvSpPr>
          <p:cNvPr id="131" name="Google Shape;131;p5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Training objectives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/>
              <a:t>Develop a strong foundation in digital design principles and computer architecture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/>
              <a:t>Bridge the gap between academic knowledge and industry requirements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/>
              <a:t>Cultivate practical skills in digital design tools and methodologies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/>
              <a:t>Foster teamwork and communication skills essential for professional engineering environments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6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What you can Expect</a:t>
            </a:r>
            <a:endParaRPr b="0"/>
          </a:p>
        </p:txBody>
      </p:sp>
      <p:sp>
        <p:nvSpPr>
          <p:cNvPr id="137" name="Google Shape;137;p6"/>
          <p:cNvSpPr txBox="1"/>
          <p:nvPr>
            <p:ph idx="1" type="body"/>
          </p:nvPr>
        </p:nvSpPr>
        <p:spPr>
          <a:xfrm>
            <a:off x="1115568" y="2008298"/>
            <a:ext cx="10168128" cy="4738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/>
              <a:t>1</a:t>
            </a:r>
            <a:r>
              <a:rPr lang="en-US" sz="2000">
                <a:latin typeface="Arial"/>
                <a:ea typeface="Arial"/>
                <a:cs typeface="Arial"/>
                <a:sym typeface="Arial"/>
              </a:rPr>
              <a:t> month of coaching ~ 10k a month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/>
              <a:t>Week-1: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Productivity Tools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/>
              <a:t>Week-2: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Digital Systems Design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/>
              <a:t>Week-3: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Computer Architecture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41300" lvl="1" marL="685800" rtl="0" algn="l">
              <a:spcBef>
                <a:spcPts val="500"/>
              </a:spcBef>
              <a:spcAft>
                <a:spcPts val="0"/>
              </a:spcAft>
              <a:buSzPts val="2000"/>
              <a:buFont typeface="Courier New"/>
              <a:buChar char="o"/>
            </a:pPr>
            <a:r>
              <a:rPr lang="en-US"/>
              <a:t>Week-4: Digital Systems Verification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Hands on Projects ~ 10k a month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Complex datapaths and controllers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RISCV Microprocessor System Design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Verification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Software 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Just like you’re working in a company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7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What is Expected of You</a:t>
            </a:r>
            <a:endParaRPr/>
          </a:p>
        </p:txBody>
      </p:sp>
      <p:sp>
        <p:nvSpPr>
          <p:cNvPr id="143" name="Google Shape;143;p7"/>
          <p:cNvSpPr txBox="1"/>
          <p:nvPr>
            <p:ph idx="1" type="body"/>
          </p:nvPr>
        </p:nvSpPr>
        <p:spPr>
          <a:xfrm>
            <a:off x="1115568" y="2425833"/>
            <a:ext cx="10168128" cy="41952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Attendance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Performance in Multiple Evaluations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Knowledge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Skill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ourier New"/>
              <a:buChar char="o"/>
            </a:pPr>
            <a:r>
              <a:rPr lang="en-US" sz="1800">
                <a:latin typeface="Arial"/>
                <a:ea typeface="Arial"/>
                <a:cs typeface="Arial"/>
                <a:sym typeface="Arial"/>
              </a:rPr>
              <a:t>Speed</a:t>
            </a:r>
            <a:endParaRPr sz="18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</a:pPr>
            <a:r>
              <a:t/>
            </a:r>
            <a:endParaRPr sz="1800"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8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What is Expected of You</a:t>
            </a:r>
            <a:endParaRPr/>
          </a:p>
        </p:txBody>
      </p:sp>
      <p:sp>
        <p:nvSpPr>
          <p:cNvPr id="149" name="Google Shape;149;p8"/>
          <p:cNvSpPr txBox="1"/>
          <p:nvPr>
            <p:ph idx="1" type="body"/>
          </p:nvPr>
        </p:nvSpPr>
        <p:spPr>
          <a:xfrm>
            <a:off x="1115568" y="2196190"/>
            <a:ext cx="10168128" cy="442485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85750" lvl="0" marL="28575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Top-notch Communications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Daily Updates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What you have done today.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What you’re going to do tomorrow.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Are there any roadblocks?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Clarity and Accuracy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2" marL="11430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Spoken and Written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</a:pPr>
            <a:r>
              <a:rPr lang="en-US" sz="2000">
                <a:latin typeface="Arial"/>
                <a:ea typeface="Arial"/>
                <a:cs typeface="Arial"/>
                <a:sym typeface="Arial"/>
              </a:rPr>
              <a:t>Independence</a:t>
            </a:r>
            <a:endParaRPr sz="20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Task assignment to task completion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Doesn’t stop you from collaboration</a:t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9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Timings</a:t>
            </a:r>
            <a:endParaRPr/>
          </a:p>
        </p:txBody>
      </p:sp>
      <p:sp>
        <p:nvSpPr>
          <p:cNvPr id="155" name="Google Shape;155;p9"/>
          <p:cNvSpPr txBox="1"/>
          <p:nvPr>
            <p:ph idx="1" type="body"/>
          </p:nvPr>
        </p:nvSpPr>
        <p:spPr>
          <a:xfrm>
            <a:off x="1115568" y="2478024"/>
            <a:ext cx="10168128" cy="402820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Monday to Friday, 09.00 am to 04.00 PM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2400"/>
              <a:buChar char="•"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Coaching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09.00 am to 12.00 pm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Will include a couple of small breaks.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Courier New"/>
              <a:buChar char="o"/>
            </a:pP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May end earlier than the allocated time.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Hands on Lab Sessions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/>
              <a:t>12.00 pm </a:t>
            </a:r>
            <a:r>
              <a:rPr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to </a:t>
            </a:r>
            <a:r>
              <a:rPr lang="en-US"/>
              <a:t>04.00 pm</a:t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0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What's Next</a:t>
            </a:r>
            <a:endParaRPr b="0"/>
          </a:p>
        </p:txBody>
      </p:sp>
      <p:sp>
        <p:nvSpPr>
          <p:cNvPr id="161" name="Google Shape;161;p10"/>
          <p:cNvSpPr txBox="1"/>
          <p:nvPr>
            <p:ph idx="1" type="body"/>
          </p:nvPr>
        </p:nvSpPr>
        <p:spPr>
          <a:xfrm>
            <a:off x="1115568" y="2008298"/>
            <a:ext cx="10168128" cy="473801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0795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</a:pPr>
            <a:r>
              <a:t/>
            </a:r>
            <a:endParaRPr sz="19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Internship - 30k to 40k a month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ourier New"/>
              <a:buChar char="o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Xcelerium’s Proprietary Projects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</a:pPr>
            <a:r>
              <a:rPr lang="en-US" sz="2200">
                <a:latin typeface="Arial"/>
                <a:ea typeface="Arial"/>
                <a:cs typeface="Arial"/>
                <a:sym typeface="Arial"/>
              </a:rPr>
              <a:t>Full-Time Job - 130k to 150k a month</a:t>
            </a:r>
            <a:endParaRPr sz="2200"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1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Administrative Information</a:t>
            </a:r>
            <a:endParaRPr/>
          </a:p>
        </p:txBody>
      </p:sp>
      <p:sp>
        <p:nvSpPr>
          <p:cNvPr id="167" name="Google Shape;167;p11"/>
          <p:cNvSpPr txBox="1"/>
          <p:nvPr>
            <p:ph idx="1" type="body"/>
          </p:nvPr>
        </p:nvSpPr>
        <p:spPr>
          <a:xfrm>
            <a:off x="1011184" y="2227503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Reporting procedure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Slack information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 u="sng">
                <a:solidFill>
                  <a:schemeClr val="hlink"/>
                </a:solidFill>
                <a:hlinkClick r:id="rId3"/>
              </a:rPr>
              <a:t>https://join.slack.com/t/xceleriumdigi-t6v9440/shared_invite/zt-3bif7sic2-YyHNbEca0DAqMuGnqK86iQ</a:t>
            </a:r>
            <a:endParaRPr/>
          </a:p>
          <a:p>
            <a:pPr indent="-1905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68" name="Google Shape;168;p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322200" y="3850850"/>
            <a:ext cx="2961500" cy="292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74" name="Google Shape;174;p14"/>
          <p:cNvPicPr preferRelativeResize="0"/>
          <p:nvPr/>
        </p:nvPicPr>
        <p:blipFill rotWithShape="1">
          <a:blip r:embed="rId3">
            <a:alphaModFix/>
          </a:blip>
          <a:srcRect b="3759" l="0" r="0" t="376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75" name="Google Shape;175;p14"/>
          <p:cNvSpPr/>
          <p:nvPr/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8823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6" name="Google Shape;176;p14"/>
          <p:cNvSpPr txBox="1"/>
          <p:nvPr>
            <p:ph type="ctrTitle"/>
          </p:nvPr>
        </p:nvSpPr>
        <p:spPr>
          <a:xfrm>
            <a:off x="477981" y="1122363"/>
            <a:ext cx="402336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Arial"/>
              <a:buNone/>
            </a:pPr>
            <a:r>
              <a:rPr lang="en-US" sz="4800"/>
              <a:t>Linux Shell Scripting </a:t>
            </a:r>
            <a:endParaRPr sz="4800"/>
          </a:p>
        </p:txBody>
      </p:sp>
      <p:sp>
        <p:nvSpPr>
          <p:cNvPr id="177" name="Google Shape;177;p14"/>
          <p:cNvSpPr txBox="1"/>
          <p:nvPr>
            <p:ph idx="1" type="subTitle"/>
          </p:nvPr>
        </p:nvSpPr>
        <p:spPr>
          <a:xfrm>
            <a:off x="477980" y="4872922"/>
            <a:ext cx="4023359" cy="1208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Digital Design and Verification Training</a:t>
            </a:r>
            <a:endParaRPr/>
          </a:p>
        </p:txBody>
      </p:sp>
      <p:sp>
        <p:nvSpPr>
          <p:cNvPr id="178" name="Google Shape;178;p14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9" name="Google Shape;179;p14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B9BED9"/>
          </a:solidFill>
          <a:ln cap="flat" cmpd="sng" w="9525">
            <a:solidFill>
              <a:srgbClr val="B9BE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5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Linux Shell Scripting</a:t>
            </a:r>
            <a:endParaRPr/>
          </a:p>
        </p:txBody>
      </p:sp>
      <p:sp>
        <p:nvSpPr>
          <p:cNvPr id="185" name="Google Shape;185;p15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 shell is a program that commands the operating system to perform actions. 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You can enter commands in a console on your computer and run the commands directly, or you can use scripts to run batches of commands. 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Shells like PowerShell and Bash give system administrators the power and precision they need for fine-tuned control of the computers they're responsible for.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6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Shell Commands</a:t>
            </a:r>
            <a:endParaRPr/>
          </a:p>
        </p:txBody>
      </p:sp>
      <p:sp>
        <p:nvSpPr>
          <p:cNvPr id="191" name="Google Shape;191;p16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The full syntax for a Bash command is: </a:t>
            </a:r>
            <a:endParaRPr/>
          </a:p>
          <a:p>
            <a:pPr indent="0" lvl="0" marL="0" rt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command [options] [arguments]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Which options and arguments varies from command to command. To learn about the options for a command, use the man (for "manual") command.</a:t>
            </a:r>
            <a:endParaRPr sz="2000"/>
          </a:p>
          <a:p>
            <a:pPr indent="0" lvl="0" marL="0" rtl="0" algn="ctr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man &lt;command&gt;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7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File and Directory Commands</a:t>
            </a:r>
            <a:endParaRPr/>
          </a:p>
        </p:txBody>
      </p:sp>
      <p:sp>
        <p:nvSpPr>
          <p:cNvPr id="197" name="Google Shape;197;p17"/>
          <p:cNvSpPr txBox="1"/>
          <p:nvPr>
            <p:ph idx="1" type="body"/>
          </p:nvPr>
        </p:nvSpPr>
        <p:spPr>
          <a:xfrm>
            <a:off x="1115568" y="2478024"/>
            <a:ext cx="4979271" cy="413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Make directory 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mkdir &lt;name&gt;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Navigating –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cd &lt;option&gt;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cd ~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cd ..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List Contents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83333"/>
              <a:buFont typeface="Courier New"/>
              <a:buChar char="o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ls &lt;name&gt;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•"/>
            </a:pPr>
            <a:r>
              <a:rPr lang="en-US"/>
              <a:t>Removing directory 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if empty –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rmdir &lt;name&gt;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ourier New"/>
              <a:buChar char="o"/>
            </a:pPr>
            <a:r>
              <a:rPr lang="en-US"/>
              <a:t>Not empty – 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rm –r &lt;name&gt;</a:t>
            </a:r>
            <a:endParaRPr/>
          </a:p>
          <a:p>
            <a:pPr indent="0" lvl="1" marL="4572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87629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  <a:p>
            <a:pPr indent="-87629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  <p:sp>
        <p:nvSpPr>
          <p:cNvPr id="198" name="Google Shape;198;p17"/>
          <p:cNvSpPr txBox="1"/>
          <p:nvPr/>
        </p:nvSpPr>
        <p:spPr>
          <a:xfrm>
            <a:off x="6202825" y="2485281"/>
            <a:ext cx="4979271" cy="41312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Copy files or directories</a:t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228600" lvl="1" marL="685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cp &lt;source&gt; &lt;dest&gt;</a:t>
            </a:r>
            <a:endParaRPr/>
          </a:p>
          <a:p>
            <a:pPr indent="-228600" lvl="0" marL="2286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</a:pPr>
            <a:r>
              <a:rPr b="0" i="0" lang="en-US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Move or rename files or directories</a:t>
            </a:r>
            <a:endParaRPr/>
          </a:p>
          <a:p>
            <a:pPr indent="-228600" lvl="1" marL="685800" marR="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b="0" i="0" lang="en-US" sz="20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mv </a:t>
            </a:r>
            <a:r>
              <a:rPr b="0" i="0" lang="en-US" sz="2100" u="none" cap="none" strike="noStrike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&lt;source&gt; &lt;dest&gt;</a:t>
            </a:r>
            <a:endParaRPr b="0" i="0" sz="2000" u="none" cap="none" strike="noStrike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76200" lvl="0" marL="2286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76200" lvl="0" marL="228600" marR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</a:pPr>
            <a:r>
              <a:t/>
            </a:r>
            <a:endParaRPr b="0" i="0" sz="24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18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Text Processing and File Commands</a:t>
            </a:r>
            <a:endParaRPr/>
          </a:p>
        </p:txBody>
      </p:sp>
      <p:sp>
        <p:nvSpPr>
          <p:cNvPr id="204" name="Google Shape;204;p18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Creating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/>
              <a:t> </a:t>
            </a: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touch &lt;file-name&gt;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Concatenate and display file content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cat &lt;file-name&gt;</a:t>
            </a:r>
            <a:endParaRPr sz="2400">
              <a:latin typeface="Courier New"/>
              <a:ea typeface="Courier New"/>
              <a:cs typeface="Courier New"/>
              <a:sym typeface="Courier New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Search text using patterns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grep &lt;pattern&gt;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>
                <a:latin typeface="Arial"/>
                <a:ea typeface="Arial"/>
                <a:cs typeface="Arial"/>
                <a:sym typeface="Arial"/>
              </a:rPr>
              <a:t>Replace Text in a file: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sed &lt;text.to.replace&gt; &lt;file_name&gt;</a:t>
            </a:r>
            <a:endParaRPr>
              <a:latin typeface="Courier New"/>
              <a:ea typeface="Courier New"/>
              <a:cs typeface="Courier New"/>
              <a:sym typeface="Courier New"/>
            </a:endParaRPr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>
              <a:latin typeface="Arial"/>
              <a:ea typeface="Arial"/>
              <a:cs typeface="Arial"/>
              <a:sym typeface="Arial"/>
            </a:endParaRPr>
          </a:p>
          <a:p>
            <a:pPr indent="-101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None/>
            </a:pPr>
            <a:r>
              <a:t/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19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System Information</a:t>
            </a:r>
            <a:endParaRPr/>
          </a:p>
        </p:txBody>
      </p:sp>
      <p:sp>
        <p:nvSpPr>
          <p:cNvPr id="210" name="Google Shape;210;p19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Print system information: 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uname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Display Linux processes: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top</a:t>
            </a:r>
            <a:endParaRPr>
              <a:latin typeface="Consolas"/>
              <a:ea typeface="Consolas"/>
              <a:cs typeface="Consolas"/>
              <a:sym typeface="Consolas"/>
            </a:endParaRPr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Report a snapshot of the current processes: </a:t>
            </a:r>
            <a:r>
              <a:rPr lang="en-US">
                <a:latin typeface="Consolas"/>
                <a:ea typeface="Consolas"/>
                <a:cs typeface="Consolas"/>
                <a:sym typeface="Consolas"/>
              </a:rPr>
              <a:t>ps</a:t>
            </a:r>
            <a:endParaRPr>
              <a:latin typeface="Consolas"/>
              <a:ea typeface="Consolas"/>
              <a:cs typeface="Consolas"/>
              <a:sym typeface="Consola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20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Copy command – cp</a:t>
            </a:r>
            <a:endParaRPr/>
          </a:p>
        </p:txBody>
      </p:sp>
      <p:sp>
        <p:nvSpPr>
          <p:cNvPr id="216" name="Google Shape;216;p20"/>
          <p:cNvSpPr txBox="1"/>
          <p:nvPr>
            <p:ph idx="1" type="body"/>
          </p:nvPr>
        </p:nvSpPr>
        <p:spPr>
          <a:xfrm>
            <a:off x="1115568" y="2185751"/>
            <a:ext cx="10168128" cy="4445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Copy files and directories</a:t>
            </a:r>
            <a:endParaRPr/>
          </a:p>
          <a:p>
            <a:pPr indent="0" lvl="1" marL="4572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cp &lt;name-to-be-copied&gt; &lt;name-of-the-copy&gt;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/>
              <a:t>if you use the </a:t>
            </a:r>
            <a:r>
              <a:rPr lang="en-US">
                <a:latin typeface="Arial"/>
                <a:ea typeface="Arial"/>
                <a:cs typeface="Arial"/>
                <a:sym typeface="Arial"/>
              </a:rPr>
              <a:t>-i</a:t>
            </a:r>
            <a:r>
              <a:rPr lang="en-US"/>
              <a:t> (for "interactive") flag, Bash warns you before deleting existing files. </a:t>
            </a:r>
            <a:endParaRPr/>
          </a:p>
          <a:p>
            <a:pPr indent="0" lvl="1" marL="4572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>
                <a:latin typeface="Courier New"/>
                <a:ea typeface="Courier New"/>
                <a:cs typeface="Courier New"/>
                <a:sym typeface="Courier New"/>
              </a:rPr>
              <a:t>cp -i hello.txt bye.txt</a:t>
            </a:r>
            <a:endParaRPr/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/>
              <a:t>copy all the files in the current directory to a subdirectory subdir1</a:t>
            </a:r>
            <a:endParaRPr/>
          </a:p>
          <a:p>
            <a:pPr indent="0" lvl="1" marL="4572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>
                <a:latin typeface="Play"/>
                <a:ea typeface="Play"/>
                <a:cs typeface="Play"/>
                <a:sym typeface="Play"/>
              </a:rPr>
              <a:t>cp * subdir1</a:t>
            </a:r>
            <a:endParaRPr>
              <a:latin typeface="Play"/>
              <a:ea typeface="Play"/>
              <a:cs typeface="Play"/>
              <a:sym typeface="Play"/>
            </a:endParaRPr>
          </a:p>
          <a:p>
            <a:pPr indent="-228600" lvl="1" marL="685800" rtl="0" algn="l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ourier New"/>
              <a:buChar char="o"/>
            </a:pPr>
            <a:r>
              <a:rPr lang="en-US"/>
              <a:t>To copy all the files in a subdirectory named subdir1 into a subdirectory named subdir2</a:t>
            </a:r>
            <a:endParaRPr/>
          </a:p>
          <a:p>
            <a:pPr indent="0" lvl="1" marL="457200" rtl="0" algn="ctr">
              <a:lnSpc>
                <a:spcPct val="11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>
                <a:latin typeface="Play"/>
                <a:ea typeface="Play"/>
                <a:cs typeface="Play"/>
                <a:sym typeface="Play"/>
              </a:rPr>
              <a:t>cp subdir1/* subdir2</a:t>
            </a:r>
            <a:endParaRPr>
              <a:latin typeface="Play"/>
              <a:ea typeface="Play"/>
              <a:cs typeface="Play"/>
              <a:sym typeface="Play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A computer screen with text and a person standing in front of it&#10;&#10;Description automatically generated" id="222" name="Google Shape;222;p25"/>
          <p:cNvPicPr preferRelativeResize="0"/>
          <p:nvPr/>
        </p:nvPicPr>
        <p:blipFill rotWithShape="1">
          <a:blip r:embed="rId3">
            <a:alphaModFix/>
          </a:blip>
          <a:srcRect b="0" l="18399" r="18400" t="0"/>
          <a:stretch/>
        </p:blipFill>
        <p:spPr>
          <a:xfrm>
            <a:off x="3523488" y="10"/>
            <a:ext cx="8668512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/>
          <p:nvPr/>
        </p:nvSpPr>
        <p:spPr>
          <a:xfrm>
            <a:off x="0" y="0"/>
            <a:ext cx="9756601" cy="68580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19000">
                <a:srgbClr val="FFFFFF">
                  <a:alpha val="37647"/>
                </a:srgbClr>
              </a:gs>
              <a:gs pos="35000">
                <a:srgbClr val="FFFFFF">
                  <a:alpha val="78823"/>
                </a:srgbClr>
              </a:gs>
              <a:gs pos="58000">
                <a:schemeClr val="lt1"/>
              </a:gs>
              <a:gs pos="100000">
                <a:schemeClr val="lt1"/>
              </a:gs>
            </a:gsLst>
            <a:lin ang="108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 txBox="1"/>
          <p:nvPr>
            <p:ph type="ctrTitle"/>
          </p:nvPr>
        </p:nvSpPr>
        <p:spPr>
          <a:xfrm>
            <a:off x="477981" y="1122363"/>
            <a:ext cx="5223770" cy="320413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600"/>
              <a:buFont typeface="Arial"/>
              <a:buNone/>
            </a:pPr>
            <a:r>
              <a:rPr lang="en-US" sz="6600"/>
              <a:t>Basics of C Language</a:t>
            </a:r>
            <a:endParaRPr/>
          </a:p>
        </p:txBody>
      </p:sp>
      <p:sp>
        <p:nvSpPr>
          <p:cNvPr id="225" name="Google Shape;225;p25"/>
          <p:cNvSpPr txBox="1"/>
          <p:nvPr>
            <p:ph idx="1" type="subTitle"/>
          </p:nvPr>
        </p:nvSpPr>
        <p:spPr>
          <a:xfrm>
            <a:off x="477980" y="4872922"/>
            <a:ext cx="4023359" cy="120814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rPr lang="en-US" sz="2000"/>
              <a:t>Digital Design and Verification Training</a:t>
            </a:r>
            <a:endParaRPr/>
          </a:p>
        </p:txBody>
      </p:sp>
      <p:sp>
        <p:nvSpPr>
          <p:cNvPr id="226" name="Google Shape;226;p25"/>
          <p:cNvSpPr/>
          <p:nvPr/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481029" y="4546920"/>
            <a:ext cx="3977640" cy="18288"/>
          </a:xfrm>
          <a:prstGeom prst="rect">
            <a:avLst/>
          </a:prstGeom>
          <a:solidFill>
            <a:srgbClr val="B9BED9"/>
          </a:solidFill>
          <a:ln cap="flat" cmpd="sng" w="9525">
            <a:solidFill>
              <a:srgbClr val="B9BED9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</a:pPr>
            <a:r>
              <a:t/>
            </a:r>
            <a:endParaRPr b="0" i="0" sz="1800" u="none" cap="none" strike="noStrike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Quick Revision - C Language Essentials</a:t>
            </a:r>
            <a:endParaRPr/>
          </a:p>
        </p:txBody>
      </p:sp>
      <p:sp>
        <p:nvSpPr>
          <p:cNvPr id="233" name="Google Shape;233;p26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400"/>
              <a:buChar char="•"/>
            </a:pPr>
            <a:r>
              <a:rPr lang="en-US">
                <a:solidFill>
                  <a:srgbClr val="1F1F1F"/>
                </a:solidFill>
              </a:rPr>
              <a:t>Basic syntax and structure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2400"/>
              <a:buChar char="•"/>
            </a:pPr>
            <a:r>
              <a:rPr lang="en-US">
                <a:solidFill>
                  <a:srgbClr val="1F1F1F"/>
                </a:solidFill>
              </a:rPr>
              <a:t>Data types and variables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2400"/>
              <a:buChar char="•"/>
            </a:pPr>
            <a:r>
              <a:rPr lang="en-US">
                <a:solidFill>
                  <a:srgbClr val="1F1F1F"/>
                </a:solidFill>
              </a:rPr>
              <a:t>Operators and expressions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2400"/>
              <a:buChar char="•"/>
            </a:pPr>
            <a:r>
              <a:rPr lang="en-US">
                <a:solidFill>
                  <a:srgbClr val="1F1F1F"/>
                </a:solidFill>
              </a:rPr>
              <a:t>Control structures (if, switch, loops)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2400"/>
              <a:buChar char="•"/>
            </a:pPr>
            <a:r>
              <a:rPr lang="en-US">
                <a:solidFill>
                  <a:srgbClr val="1F1F1F"/>
                </a:solidFill>
              </a:rPr>
              <a:t>Functions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rgbClr val="1F1F1F"/>
              </a:buClr>
              <a:buSzPts val="2400"/>
              <a:buChar char="•"/>
            </a:pPr>
            <a:r>
              <a:rPr lang="en-US">
                <a:solidFill>
                  <a:srgbClr val="1F1F1F"/>
                </a:solidFill>
              </a:rPr>
              <a:t>Arrays and strings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7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Basic Syntax and Structure</a:t>
            </a:r>
            <a:endParaRPr/>
          </a:p>
        </p:txBody>
      </p:sp>
      <p:sp>
        <p:nvSpPr>
          <p:cNvPr id="239" name="Google Shape;239;p27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Structure of a C program:</a:t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40" name="Google Shape;240;p27"/>
          <p:cNvGraphicFramePr/>
          <p:nvPr/>
        </p:nvGraphicFramePr>
        <p:xfrm>
          <a:off x="1813758" y="3044571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8168650"/>
              </a:tblGrid>
              <a:tr h="3708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6C75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E06C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#</a:t>
                      </a: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include</a:t>
                      </a:r>
                      <a:r>
                        <a:rPr b="0" i="0" lang="en-US" sz="2000" u="none" cap="none" strike="noStrike">
                          <a:solidFill>
                            <a:srgbClr val="E06C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&lt;stdio.h&gt;</a:t>
                      </a:r>
                      <a:r>
                        <a:rPr b="0" i="0" lang="en-US" sz="2000" u="none" cap="none" strike="noStrike">
                          <a:solidFill>
                            <a:srgbClr val="E06C75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1" lang="en-US" sz="2000" u="none" cap="none" strike="noStrike">
                          <a:solidFill>
                            <a:srgbClr val="5C63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// Preprocessor directive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main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()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BB2B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1" lang="en-US" sz="2000" u="none" cap="none" strike="noStrike">
                          <a:solidFill>
                            <a:srgbClr val="5C63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// Main function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5C6370"/>
                        </a:buClr>
                        <a:buSzPts val="2000"/>
                        <a:buFont typeface="Arial"/>
                        <a:buNone/>
                      </a:pPr>
                      <a:r>
                        <a:rPr b="0" i="1" lang="en-US" sz="2000" u="none" cap="none" strike="noStrike">
                          <a:solidFill>
                            <a:srgbClr val="5C63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// Your code here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2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8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Basic Syntax and Structure</a:t>
            </a:r>
            <a:endParaRPr/>
          </a:p>
        </p:txBody>
      </p:sp>
      <p:sp>
        <p:nvSpPr>
          <p:cNvPr id="246" name="Google Shape;246;p28"/>
          <p:cNvSpPr txBox="1"/>
          <p:nvPr>
            <p:ph idx="1" type="body"/>
          </p:nvPr>
        </p:nvSpPr>
        <p:spPr>
          <a:xfrm>
            <a:off x="1115568" y="2206627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Basic data types</a:t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Size of data types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47" name="Google Shape;247;p28"/>
          <p:cNvGraphicFramePr/>
          <p:nvPr/>
        </p:nvGraphicFramePr>
        <p:xfrm>
          <a:off x="1813758" y="271054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8168650"/>
              </a:tblGrid>
              <a:tr h="3708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age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rgbClr val="D19A66"/>
                          </a:solidFill>
                        </a:rPr>
                        <a:t>25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float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pi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rgbClr val="D19A66"/>
                          </a:solidFill>
                        </a:rPr>
                        <a:t>3.14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double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precise_pi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rgbClr val="D19A66"/>
                          </a:solidFill>
                        </a:rPr>
                        <a:t>3.14159265359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char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grade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rgbClr val="98C379"/>
                          </a:solidFill>
                        </a:rPr>
                        <a:t>'A'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48" name="Google Shape;248;p28"/>
          <p:cNvGraphicFramePr/>
          <p:nvPr/>
        </p:nvGraphicFramePr>
        <p:xfrm>
          <a:off x="1813757" y="4860303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8168650"/>
              </a:tblGrid>
              <a:tr h="3708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98C379"/>
                          </a:solidFill>
                        </a:rPr>
                        <a:t>"Size of int: %zu bytes\n"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sizeof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));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98C379"/>
                          </a:solidFill>
                        </a:rPr>
                        <a:t>"Size of float: %zu bytes\n"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sizeof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float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));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98C379"/>
                          </a:solidFill>
                        </a:rPr>
                        <a:t>"Size of double: %zu bytes\n"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sizeof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double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));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98C379"/>
                          </a:solidFill>
                        </a:rPr>
                        <a:t>"Size of char: %zu bytes\n"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sizeof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char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));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29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Basic Syntax and Structure</a:t>
            </a:r>
            <a:endParaRPr/>
          </a:p>
        </p:txBody>
      </p:sp>
      <p:sp>
        <p:nvSpPr>
          <p:cNvPr id="254" name="Google Shape;254;p29"/>
          <p:cNvSpPr txBox="1"/>
          <p:nvPr>
            <p:ph idx="1" type="body"/>
          </p:nvPr>
        </p:nvSpPr>
        <p:spPr>
          <a:xfrm>
            <a:off x="1011184" y="198257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Operators and Expressions</a:t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Increment/Decrement</a:t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55" name="Google Shape;255;p29"/>
          <p:cNvGraphicFramePr/>
          <p:nvPr/>
        </p:nvGraphicFramePr>
        <p:xfrm>
          <a:off x="1824196" y="257310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8168650"/>
              </a:tblGrid>
              <a:tr h="3708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rgbClr val="D19A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10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rgbClr val="D19A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3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98C3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"Sum: %d\n"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1" lang="en-US" sz="1800" u="none" cap="none" strike="noStrike">
                          <a:solidFill>
                            <a:srgbClr val="5C63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// 13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98C3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"Difference: %d\n"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-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1" lang="en-US" sz="1800" u="none" cap="none" strike="noStrike">
                          <a:solidFill>
                            <a:srgbClr val="5C63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// 7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98C3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"Product: %d\n"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*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1" lang="en-US" sz="1800" u="none" cap="none" strike="noStrike">
                          <a:solidFill>
                            <a:srgbClr val="5C63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// 30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98C3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"Quotient: %d\n"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1" lang="en-US" sz="1800" u="none" cap="none" strike="noStrike">
                          <a:solidFill>
                            <a:srgbClr val="5C63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// 3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98C3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"Remainder: %d\n"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a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%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b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1" lang="en-US" sz="1800" u="none" cap="none" strike="noStrike">
                          <a:solidFill>
                            <a:srgbClr val="5C63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// 1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56" name="Google Shape;256;p29"/>
          <p:cNvGraphicFramePr/>
          <p:nvPr/>
        </p:nvGraphicFramePr>
        <p:xfrm>
          <a:off x="1821349" y="562787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8168650"/>
              </a:tblGrid>
              <a:tr h="3708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x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rgbClr val="D19A66"/>
                          </a:solidFill>
                        </a:rPr>
                        <a:t>5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98C379"/>
                          </a:solidFill>
                        </a:rPr>
                        <a:t>"x: %d\n"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x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++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);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1" lang="en-US" sz="1800" u="none" cap="none" strike="noStrike">
                          <a:solidFill>
                            <a:srgbClr val="5C6370"/>
                          </a:solidFill>
                        </a:rPr>
                        <a:t>// Prints 5, then x becomes 6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18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1800"/>
                        <a:buFont typeface="Arial"/>
                        <a:buNone/>
                      </a:pP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1800" u="none" cap="none" strike="noStrike">
                          <a:solidFill>
                            <a:srgbClr val="98C379"/>
                          </a:solidFill>
                        </a:rPr>
                        <a:t>"x: %d\n"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1800" u="none" cap="none" strike="noStrike">
                          <a:solidFill>
                            <a:srgbClr val="61AFEF"/>
                          </a:solidFill>
                        </a:rPr>
                        <a:t>++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x</a:t>
                      </a:r>
                      <a:r>
                        <a:rPr b="0" i="0" lang="en-US" sz="1800" u="none" cap="none" strike="noStrike">
                          <a:solidFill>
                            <a:srgbClr val="ABB2BF"/>
                          </a:solidFill>
                        </a:rPr>
                        <a:t>);</a:t>
                      </a:r>
                      <a:r>
                        <a:rPr b="0" i="0" lang="en-US" sz="18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1" lang="en-US" sz="1800" u="none" cap="none" strike="noStrike">
                          <a:solidFill>
                            <a:srgbClr val="5C6370"/>
                          </a:solidFill>
                        </a:rPr>
                        <a:t>// x becomes 7, then prints 7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30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Basic Syntax and Structure</a:t>
            </a:r>
            <a:endParaRPr/>
          </a:p>
        </p:txBody>
      </p:sp>
      <p:sp>
        <p:nvSpPr>
          <p:cNvPr id="262" name="Google Shape;262;p30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If-else example</a:t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63" name="Google Shape;263;p30"/>
          <p:cNvGraphicFramePr/>
          <p:nvPr/>
        </p:nvGraphicFramePr>
        <p:xfrm>
          <a:off x="1774174" y="3038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8168650"/>
              </a:tblGrid>
              <a:tr h="3708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score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95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if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score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&gt;=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90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"Grade: A\n"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}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else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if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score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&gt;=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80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"Grade: B\n"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}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else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if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score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&gt;=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70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"Grade: C\n"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}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else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"Grade: F\n"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}</a:t>
                      </a:r>
                      <a:endParaRPr sz="2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31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Basic Syntax and Structure</a:t>
            </a:r>
            <a:endParaRPr/>
          </a:p>
        </p:txBody>
      </p:sp>
      <p:sp>
        <p:nvSpPr>
          <p:cNvPr id="269" name="Google Shape;269;p31"/>
          <p:cNvSpPr txBox="1"/>
          <p:nvPr>
            <p:ph idx="1" type="body"/>
          </p:nvPr>
        </p:nvSpPr>
        <p:spPr>
          <a:xfrm>
            <a:off x="718910" y="2029175"/>
            <a:ext cx="10168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Switch example</a:t>
            </a:r>
            <a:endParaRPr/>
          </a:p>
        </p:txBody>
      </p:sp>
      <p:graphicFrame>
        <p:nvGraphicFramePr>
          <p:cNvPr id="270" name="Google Shape;270;p31"/>
          <p:cNvGraphicFramePr/>
          <p:nvPr/>
        </p:nvGraphicFramePr>
        <p:xfrm>
          <a:off x="1978875" y="263747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2971900"/>
              </a:tblGrid>
              <a:tr h="38098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char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 grade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'B'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switch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 (grade) {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case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'A'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: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    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"Excellent!\n"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);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   break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case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'B'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: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   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"Good job!\n"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);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   break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 </a:t>
                      </a:r>
                      <a:endParaRPr sz="2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271" name="Google Shape;271;p31"/>
          <p:cNvSpPr txBox="1"/>
          <p:nvPr/>
        </p:nvSpPr>
        <p:spPr>
          <a:xfrm>
            <a:off x="6091824" y="2636729"/>
            <a:ext cx="2983200" cy="38064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000" u="none" cap="none" strike="noStrike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case</a:t>
            </a:r>
            <a:r>
              <a:rPr b="0" i="0" lang="en-US" sz="2000" u="none" cap="none" strike="noStrike">
                <a:solidFill>
                  <a:srgbClr val="ABB2B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r>
              <a:rPr b="0" i="0" lang="en-US" sz="2000" u="none" cap="none" strike="noStrike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'C'</a:t>
            </a:r>
            <a:r>
              <a:rPr b="0" i="0" lang="en-US" sz="2000" u="none" cap="none" strike="noStrike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b="0" i="0" lang="en-US" sz="2000" u="none" cap="none" strike="noStrike">
                <a:solidFill>
                  <a:srgbClr val="ABB2B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i="0" lang="en-US" sz="2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   printf</a:t>
            </a:r>
            <a:r>
              <a:rPr lang="en-US" sz="2000">
                <a:solidFill>
                  <a:srgbClr val="ABB2B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"Average performance.\n"</a:t>
            </a:r>
            <a:r>
              <a:rPr lang="en-US" sz="2000">
                <a:solidFill>
                  <a:srgbClr val="ABB2BF"/>
                </a:solidFill>
                <a:latin typeface="Arial"/>
                <a:ea typeface="Arial"/>
                <a:cs typeface="Arial"/>
                <a:sym typeface="Arial"/>
              </a:rPr>
              <a:t>); </a:t>
            </a: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   break</a:t>
            </a:r>
            <a:r>
              <a:rPr lang="en-US" sz="2000">
                <a:solidFill>
                  <a:srgbClr val="ABB2BF"/>
                </a:solidFill>
                <a:latin typeface="Arial"/>
                <a:ea typeface="Arial"/>
                <a:cs typeface="Arial"/>
                <a:sym typeface="Arial"/>
              </a:rPr>
              <a:t>; </a:t>
            </a: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C678DD"/>
                </a:solidFill>
                <a:latin typeface="Arial"/>
                <a:ea typeface="Arial"/>
                <a:cs typeface="Arial"/>
                <a:sym typeface="Arial"/>
              </a:rPr>
              <a:t>default</a:t>
            </a:r>
            <a:r>
              <a:rPr lang="en-US" sz="2000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r>
              <a:rPr lang="en-US" sz="2000">
                <a:solidFill>
                  <a:srgbClr val="ABB2BF"/>
                </a:solidFill>
                <a:latin typeface="Arial"/>
                <a:ea typeface="Arial"/>
                <a:cs typeface="Arial"/>
                <a:sym typeface="Arial"/>
              </a:rPr>
              <a:t> </a:t>
            </a:r>
            <a:r>
              <a:rPr b="1" lang="en-US" sz="200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​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>
                <a:solidFill>
                  <a:srgbClr val="61AFEF"/>
                </a:solidFill>
                <a:latin typeface="Arial"/>
                <a:ea typeface="Arial"/>
                <a:cs typeface="Arial"/>
                <a:sym typeface="Arial"/>
              </a:rPr>
              <a:t>    printf</a:t>
            </a:r>
            <a:r>
              <a:rPr lang="en-US" sz="2000">
                <a:solidFill>
                  <a:srgbClr val="ABB2BF"/>
                </a:solidFill>
                <a:latin typeface="Arial"/>
                <a:ea typeface="Arial"/>
                <a:cs typeface="Arial"/>
                <a:sym typeface="Arial"/>
              </a:rPr>
              <a:t>(</a:t>
            </a:r>
            <a:r>
              <a:rPr lang="en-US" sz="2000">
                <a:solidFill>
                  <a:srgbClr val="98C379"/>
                </a:solidFill>
                <a:latin typeface="Arial"/>
                <a:ea typeface="Arial"/>
                <a:cs typeface="Arial"/>
                <a:sym typeface="Arial"/>
              </a:rPr>
              <a:t>"Need improvement.\n"</a:t>
            </a:r>
            <a:r>
              <a:rPr lang="en-US" sz="2000">
                <a:solidFill>
                  <a:srgbClr val="ABB2BF"/>
                </a:solidFill>
                <a:latin typeface="Arial"/>
                <a:ea typeface="Arial"/>
                <a:cs typeface="Arial"/>
                <a:sym typeface="Arial"/>
              </a:rPr>
              <a:t>); }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ABB2B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ABB2B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ABB2B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ABB2B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ABB2B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32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Basic Syntax and Structure</a:t>
            </a:r>
            <a:endParaRPr/>
          </a:p>
        </p:txBody>
      </p:sp>
      <p:sp>
        <p:nvSpPr>
          <p:cNvPr id="277" name="Google Shape;277;p32"/>
          <p:cNvSpPr txBox="1"/>
          <p:nvPr>
            <p:ph idx="1" type="body"/>
          </p:nvPr>
        </p:nvSpPr>
        <p:spPr>
          <a:xfrm>
            <a:off x="1115568" y="2478024"/>
            <a:ext cx="10168200" cy="3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For loop</a:t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2286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While loop</a:t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78" name="Google Shape;278;p32"/>
          <p:cNvGraphicFramePr/>
          <p:nvPr/>
        </p:nvGraphicFramePr>
        <p:xfrm>
          <a:off x="1774174" y="3038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8168650"/>
              </a:tblGrid>
              <a:tr h="3708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for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i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0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i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&lt;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5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i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++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BB2B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"%d 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i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}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1" lang="en-US" sz="2000" u="none" cap="none" strike="noStrike">
                          <a:solidFill>
                            <a:srgbClr val="5C6370"/>
                          </a:solidFill>
                        </a:rPr>
                        <a:t>// Output: 0 1 2 3 4</a:t>
                      </a:r>
                      <a:endParaRPr sz="2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79" name="Google Shape;279;p32"/>
          <p:cNvGraphicFramePr/>
          <p:nvPr/>
        </p:nvGraphicFramePr>
        <p:xfrm>
          <a:off x="1770479" y="4710769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8168650"/>
              </a:tblGrid>
              <a:tr h="3708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n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1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while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n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&lt;=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5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"%d 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n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*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n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n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++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}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1" lang="en-US" sz="2000" u="none" cap="none" strike="noStrike">
                          <a:solidFill>
                            <a:srgbClr val="5C6370"/>
                          </a:solidFill>
                        </a:rPr>
                        <a:t>// Output: 1 4 9 16 25</a:t>
                      </a:r>
                      <a:endParaRPr sz="18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33"/>
          <p:cNvSpPr txBox="1"/>
          <p:nvPr>
            <p:ph type="title"/>
          </p:nvPr>
        </p:nvSpPr>
        <p:spPr>
          <a:xfrm>
            <a:off x="1115568" y="548640"/>
            <a:ext cx="10168200" cy="1179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Basic Syntax and Structure</a:t>
            </a:r>
            <a:endParaRPr/>
          </a:p>
        </p:txBody>
      </p:sp>
      <p:sp>
        <p:nvSpPr>
          <p:cNvPr id="285" name="Google Shape;285;p33"/>
          <p:cNvSpPr txBox="1"/>
          <p:nvPr>
            <p:ph idx="1" type="body"/>
          </p:nvPr>
        </p:nvSpPr>
        <p:spPr>
          <a:xfrm>
            <a:off x="1011184" y="2185750"/>
            <a:ext cx="10168200" cy="414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Function definition and call:</a:t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-76200" lvl="0" marL="22860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1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aphicFrame>
        <p:nvGraphicFramePr>
          <p:cNvPr id="286" name="Google Shape;286;p33"/>
          <p:cNvGraphicFramePr/>
          <p:nvPr/>
        </p:nvGraphicFramePr>
        <p:xfrm>
          <a:off x="1774174" y="28710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8168650"/>
              </a:tblGrid>
              <a:tr h="3708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square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x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BB2B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return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x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*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x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}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main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()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num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4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"Square of %d is %d\n"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num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square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num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return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0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BB2B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}</a:t>
                      </a:r>
                      <a:endParaRPr sz="2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34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Basic Syntax and Structure</a:t>
            </a:r>
            <a:endParaRPr/>
          </a:p>
        </p:txBody>
      </p:sp>
      <p:sp>
        <p:nvSpPr>
          <p:cNvPr id="292" name="Google Shape;292;p34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Array initialization and access</a:t>
            </a:r>
            <a:endParaRPr/>
          </a:p>
        </p:txBody>
      </p:sp>
      <p:graphicFrame>
        <p:nvGraphicFramePr>
          <p:cNvPr id="293" name="Google Shape;293;p34"/>
          <p:cNvGraphicFramePr/>
          <p:nvPr/>
        </p:nvGraphicFramePr>
        <p:xfrm>
          <a:off x="1774174" y="3038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8168650"/>
              </a:tblGrid>
              <a:tr h="3708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numbers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[]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1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2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3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4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5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};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for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i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0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i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&lt;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5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i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++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BB2B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"%d 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numbers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[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i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]);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}</a:t>
                      </a:r>
                      <a:endParaRPr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5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Basic Syntax and Structure</a:t>
            </a:r>
            <a:endParaRPr/>
          </a:p>
        </p:txBody>
      </p:sp>
      <p:sp>
        <p:nvSpPr>
          <p:cNvPr id="299" name="Google Shape;299;p35"/>
          <p:cNvSpPr txBox="1"/>
          <p:nvPr>
            <p:ph idx="1" type="body"/>
          </p:nvPr>
        </p:nvSpPr>
        <p:spPr>
          <a:xfrm>
            <a:off x="1115568" y="2478024"/>
            <a:ext cx="10168128" cy="369417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</a:pPr>
            <a:r>
              <a:rPr lang="en-US"/>
              <a:t>String operations</a:t>
            </a:r>
            <a:endParaRPr/>
          </a:p>
        </p:txBody>
      </p:sp>
      <p:graphicFrame>
        <p:nvGraphicFramePr>
          <p:cNvPr id="300" name="Google Shape;300;p35"/>
          <p:cNvGraphicFramePr/>
          <p:nvPr/>
        </p:nvGraphicFramePr>
        <p:xfrm>
          <a:off x="1774174" y="3038064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8168650"/>
              </a:tblGrid>
              <a:tr h="37085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char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str1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[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20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]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"Hello"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char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str2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[]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 World"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strcat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str1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str2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"Concatenated string: %s\n"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str1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"Length: %zu\n"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strlen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str1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));</a:t>
                      </a:r>
                      <a:endParaRPr sz="2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4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p36"/>
          <p:cNvSpPr txBox="1"/>
          <p:nvPr>
            <p:ph type="title"/>
          </p:nvPr>
        </p:nvSpPr>
        <p:spPr>
          <a:xfrm>
            <a:off x="1115568" y="548640"/>
            <a:ext cx="10168128" cy="11795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Arial"/>
              <a:buNone/>
            </a:pPr>
            <a:r>
              <a:rPr lang="en-US"/>
              <a:t>Basic Demo</a:t>
            </a:r>
            <a:endParaRPr/>
          </a:p>
        </p:txBody>
      </p:sp>
      <p:graphicFrame>
        <p:nvGraphicFramePr>
          <p:cNvPr id="306" name="Google Shape;306;p36"/>
          <p:cNvGraphicFramePr/>
          <p:nvPr/>
        </p:nvGraphicFramePr>
        <p:xfrm>
          <a:off x="1265813" y="1732727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{AF3718E4-545A-4129-BE7A-046FA58DAB9C}</a:tableStyleId>
              </a:tblPr>
              <a:tblGrid>
                <a:gridCol w="3950075"/>
                <a:gridCol w="4314275"/>
              </a:tblGrid>
              <a:tr h="5126700"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E06C75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E06C75"/>
                          </a:solidFill>
                        </a:rPr>
                        <a:t>#</a:t>
                      </a: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include</a:t>
                      </a:r>
                      <a:r>
                        <a:rPr b="0" i="0" lang="en-US" sz="2000" u="none" cap="none" strike="noStrike">
                          <a:solidFill>
                            <a:srgbClr val="E06C75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&lt;stdio.h&gt;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E06C75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E06C75"/>
                          </a:solidFill>
                        </a:rPr>
                        <a:t>#</a:t>
                      </a: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include</a:t>
                      </a:r>
                      <a:r>
                        <a:rPr b="0" i="0" lang="en-US" sz="2000" u="none" cap="none" strike="noStrike">
                          <a:solidFill>
                            <a:srgbClr val="E06C75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&lt;string.h&gt;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E06C75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E06C75"/>
                          </a:solidFill>
                        </a:rPr>
                        <a:t>#</a:t>
                      </a: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define</a:t>
                      </a:r>
                      <a:r>
                        <a:rPr b="0" i="0" lang="en-US" sz="2000" u="none" cap="none" strike="noStrike">
                          <a:solidFill>
                            <a:srgbClr val="E06C75"/>
                          </a:solidFill>
                        </a:rPr>
                        <a:t> MAX_NAME_LENGTH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</a:rPr>
                        <a:t>50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void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greet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char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*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name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BB2B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"Hello, %s!\n"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name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}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int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main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()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</a:rPr>
                        <a:t>char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 name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[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MAX_NAME_LENGTH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];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</a:rPr>
                        <a:t>"Enter your name: 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</a:rPr>
                        <a:t> </a:t>
                      </a:r>
                      <a:endParaRPr sz="2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fgets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MAX_NAME_LENGTH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stdin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i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[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strcspn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)]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1" lang="en-US" sz="2000" u="none" cap="none" strike="noStrike">
                          <a:solidFill>
                            <a:srgbClr val="5C637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// Remove newline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i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greet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name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i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"Let's count to 5:\n"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i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for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int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1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&lt;=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5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++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i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ABB2B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{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"%d 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,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i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i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61AFEF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61AFE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printf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(</a:t>
                      </a:r>
                      <a:r>
                        <a:rPr b="0" i="0" lang="en-US" sz="2000" u="none" cap="none" strike="noStrike">
                          <a:solidFill>
                            <a:srgbClr val="98C379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"\n"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);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 </a:t>
                      </a:r>
                      <a:endParaRPr b="1" i="0" sz="2000" u="none" cap="none" strike="noStrike">
                        <a:solidFill>
                          <a:srgbClr val="FFFFFF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  <a:p>
                      <a:pPr indent="-228600" lvl="0" marL="228600" marR="0" rtl="0" algn="l">
                        <a:lnSpc>
                          <a:spcPct val="110000"/>
                        </a:lnSpc>
                        <a:spcBef>
                          <a:spcPts val="1000"/>
                        </a:spcBef>
                        <a:spcAft>
                          <a:spcPts val="0"/>
                        </a:spcAft>
                        <a:buClr>
                          <a:srgbClr val="C678DD"/>
                        </a:buClr>
                        <a:buSzPts val="2000"/>
                        <a:buFont typeface="Arial"/>
                        <a:buNone/>
                      </a:pPr>
                      <a:r>
                        <a:rPr b="0" i="0" lang="en-US" sz="2000" u="none" cap="none" strike="noStrike">
                          <a:solidFill>
                            <a:srgbClr val="C678DD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return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D19A66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0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;</a:t>
                      </a:r>
                      <a:r>
                        <a:rPr b="0" i="0" lang="en-US" sz="2000" u="none" cap="none" strike="noStrike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i="0" lang="en-US" sz="2000" u="none" cap="none" strike="noStrike">
                          <a:solidFill>
                            <a:srgbClr val="ABB2BF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}</a:t>
                      </a:r>
                      <a:endParaRPr sz="20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AccentBoxVTI">
  <a:themeElements>
    <a:clrScheme name="AnalogousFromDarkSeedLeftStep">
      <a:dk1>
        <a:srgbClr val="000000"/>
      </a:dk1>
      <a:lt1>
        <a:srgbClr val="FFFFFF"/>
      </a:lt1>
      <a:dk2>
        <a:srgbClr val="1D2334"/>
      </a:dk2>
      <a:lt2>
        <a:srgbClr val="E3E8E2"/>
      </a:lt2>
      <a:accent1>
        <a:srgbClr val="B93FD1"/>
      </a:accent1>
      <a:accent2>
        <a:srgbClr val="6A2DBF"/>
      </a:accent2>
      <a:accent3>
        <a:srgbClr val="3F3FD1"/>
      </a:accent3>
      <a:accent4>
        <a:srgbClr val="2D6ABF"/>
      </a:accent4>
      <a:accent5>
        <a:srgbClr val="3CAFC6"/>
      </a:accent5>
      <a:accent6>
        <a:srgbClr val="2BB693"/>
      </a:accent6>
      <a:hlink>
        <a:srgbClr val="3B8AB2"/>
      </a:hlink>
      <a:folHlink>
        <a:srgbClr val="7F7F7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2024-06-27T15:25:58Z</dcterms:created>
</cp:coreProperties>
</file>